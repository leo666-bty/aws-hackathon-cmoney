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3cf03b61445c8" /><Relationship Type="http://schemas.openxmlformats.org/officeDocument/2006/relationships/extended-properties" Target="/docProps/app.xml" Id="R6e3e92faff1c410d" /><Relationship Type="http://schemas.openxmlformats.org/officeDocument/2006/relationships/officeDocument" Target="/ppt/presentation.xml" Id="Rdfa929cbd294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c38adc2ce4a39"/>
  </p:sldMasterIdLst>
  <p:notesMasterIdLst>
    <p:notesMasterId xmlns:r="http://schemas.openxmlformats.org/officeDocument/2006/relationships" r:id="Rdea78f0c597d4b6b"/>
  </p:notesMasterIdLst>
  <p:sldIdLst>
    <p:sldId xmlns:r="http://schemas.openxmlformats.org/officeDocument/2006/relationships" id="256" r:id="R9fc90d9c3a8a4f80"/>
    <p:sldId xmlns:r="http://schemas.openxmlformats.org/officeDocument/2006/relationships" id="257" r:id="R9a50e1fa28454d85"/>
    <p:sldId xmlns:r="http://schemas.openxmlformats.org/officeDocument/2006/relationships" id="258" r:id="R1d2db1fbbd95425c"/>
    <p:sldId xmlns:r="http://schemas.openxmlformats.org/officeDocument/2006/relationships" id="259" r:id="R0aeb3e019c864680"/>
    <p:sldId xmlns:r="http://schemas.openxmlformats.org/officeDocument/2006/relationships" id="260" r:id="R7a306d21362249f2"/>
    <p:sldId xmlns:r="http://schemas.openxmlformats.org/officeDocument/2006/relationships" id="261" r:id="Raed33ae654bd4f18"/>
    <p:sldId xmlns:r="http://schemas.openxmlformats.org/officeDocument/2006/relationships" id="262" r:id="R3969ed02ed21423c"/>
    <p:sldId xmlns:r="http://schemas.openxmlformats.org/officeDocument/2006/relationships" id="263" r:id="R24f3d3626da242c2"/>
    <p:sldId xmlns:r="http://schemas.openxmlformats.org/officeDocument/2006/relationships" id="264" r:id="R12fb11e2587d45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8ee5e36324ebb" /><Relationship Type="http://schemas.openxmlformats.org/officeDocument/2006/relationships/slideMaster" Target="/ppt/slideMasters/slideMaster1.xml" Id="R8cbc38adc2ce4a39" /><Relationship Type="http://schemas.openxmlformats.org/officeDocument/2006/relationships/notesMaster" Target="/ppt/notesMasters/notesMaster1.xml" Id="Rdea78f0c597d4b6b" /><Relationship Type="http://schemas.openxmlformats.org/officeDocument/2006/relationships/presProps" Target="/ppt/presProps.xml" Id="Re81b2c7066844885" /><Relationship Type="http://schemas.openxmlformats.org/officeDocument/2006/relationships/tableStyles" Target="/ppt/tableStyles.xml" Id="Ra8500ebedde54fc1" /><Relationship Type="http://schemas.openxmlformats.org/officeDocument/2006/relationships/slide" Target="/ppt/slides/slide1.xml" Id="R9fc90d9c3a8a4f80" /><Relationship Type="http://schemas.openxmlformats.org/officeDocument/2006/relationships/slide" Target="/ppt/slides/slide2.xml" Id="R9a50e1fa28454d85" /><Relationship Type="http://schemas.openxmlformats.org/officeDocument/2006/relationships/slide" Target="/ppt/slides/slide3.xml" Id="R1d2db1fbbd95425c" /><Relationship Type="http://schemas.openxmlformats.org/officeDocument/2006/relationships/slide" Target="/ppt/slides/slide4.xml" Id="R0aeb3e019c864680" /><Relationship Type="http://schemas.openxmlformats.org/officeDocument/2006/relationships/slide" Target="/ppt/slides/slide5.xml" Id="R7a306d21362249f2" /><Relationship Type="http://schemas.openxmlformats.org/officeDocument/2006/relationships/slide" Target="/ppt/slides/slide6.xml" Id="Raed33ae654bd4f18" /><Relationship Type="http://schemas.openxmlformats.org/officeDocument/2006/relationships/slide" Target="/ppt/slides/slide7.xml" Id="R3969ed02ed21423c" /><Relationship Type="http://schemas.openxmlformats.org/officeDocument/2006/relationships/slide" Target="/ppt/slides/slide8.xml" Id="R24f3d3626da242c2" /><Relationship Type="http://schemas.openxmlformats.org/officeDocument/2006/relationships/slide" Target="/ppt/slides/slide9.xml" Id="R12fb11e2587d45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14b0e67d0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60653b0ce4971" /><Relationship Type="http://schemas.openxmlformats.org/officeDocument/2006/relationships/notesMaster" Target="/ppt/notesMasters/notesMaster1.xml" Id="Ra5f488125a4f41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56d27cd494960" /><Relationship Type="http://schemas.openxmlformats.org/officeDocument/2006/relationships/notesMaster" Target="/ppt/notesMasters/notesMaster1.xml" Id="Rb6ed345c60484a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349a396e6c45e8" /><Relationship Type="http://schemas.openxmlformats.org/officeDocument/2006/relationships/notesMaster" Target="/ppt/notesMasters/notesMaster1.xml" Id="Rdd57dda508b8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36f4e3d3054d7e" /><Relationship Type="http://schemas.openxmlformats.org/officeDocument/2006/relationships/notesMaster" Target="/ppt/notesMasters/notesMaster1.xml" Id="Rb83773e41560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18b002d4a249e3" /><Relationship Type="http://schemas.openxmlformats.org/officeDocument/2006/relationships/notesMaster" Target="/ppt/notesMasters/notesMaster1.xml" Id="Rb6bffffba1e345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c23d15504f43a7" /><Relationship Type="http://schemas.openxmlformats.org/officeDocument/2006/relationships/notesMaster" Target="/ppt/notesMasters/notesMaster1.xml" Id="R325cc3d7af8945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f9bce3bd734792" /><Relationship Type="http://schemas.openxmlformats.org/officeDocument/2006/relationships/notesMaster" Target="/ppt/notesMasters/notesMaster1.xml" Id="R6f637056811d4b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9910243aab4ad6" /><Relationship Type="http://schemas.openxmlformats.org/officeDocument/2006/relationships/notesMaster" Target="/ppt/notesMasters/notesMaster1.xml" Id="R37a25a6aded64a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e571d07f884896" /><Relationship Type="http://schemas.openxmlformats.org/officeDocument/2006/relationships/notesMaster" Target="/ppt/notesMasters/notesMaster1.xml" Id="R5a9d06c9a8ef45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開場先講 TA：我們服務的是還沒有在 App 建立庫存的自主投資人。新手想快速看懂自己，老手記得交易、卻不想先整理股數、成本和對帳單。要拿到持股，第一步不是問，而是先讓他看見價值。約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不願輸入的原因是不信任、怕麻煩、沒好處。我們先讓他用五檔股票、大概月份和價格區間完成時光機，核心結果前不用登入；拿到人格與重建報酬後，才問『還持有嗎』。約 50 秒，收尾接 Demo。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切到瀏覽器實際操作約 2 分 30 秒。走位：Builder 點 5 檔 → 重建一檔（月份＋區間＋即時驗證）→ 結果頁人格卡 → /activate 輸 123456 認領 → Radar 確認持股＋證據卡 → AI Deep Dive 黃金報告特寫收尾。若網路不穩，立刻切錄影備援。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回到剛看到的畫面：報酬、人格與資料信心由確定性引擎產生；離線 ML 只辨識買進月份的歷史情境；Bedrock 把已驗證證據寫成人話。生成結果若新增數字、語意不合或不是繁中，就會被拒絕並切安全備援。約 60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目前沒有真實用戶數據，所以不報假轉換率。我們先把假設和量測方式定義清楚：新手用三分鐘小卡得到第一次價值；有經驗的投資人用年度 Recap 感的回顧更新持股。上線後看重建完成率、持股確認率與 D7 回訪率；North Star 是成功保存至少一檔本人確認持股。約 55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收尾慢、穩：我們不是用 AI 猜持股，而是先給使用者一份值得交換的報告，再取得第一筆本人確認、可以持續服務的持股關係。約 20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0fab02b854f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a2cf2e42de4ea3" /><Relationship Type="http://schemas.openxmlformats.org/officeDocument/2006/relationships/slideLayout" Target="/ppt/slideLayouts/slideLayout1.xml" Id="R95b2ce904f6c45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2ce904f6c45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2f8993a64a4b" /><Relationship Type="http://schemas.openxmlformats.org/officeDocument/2006/relationships/notesSlide" Target="/ppt/notesSlides/notesSlide1.xml" Id="R9ad9a334dc0d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0b5c6252449c2" /><Relationship Type="http://schemas.openxmlformats.org/officeDocument/2006/relationships/notesSlide" Target="/ppt/notesSlides/notesSlide2.xml" Id="Rc9443d5ab6fd45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b39d0232442eb" /><Relationship Type="http://schemas.openxmlformats.org/officeDocument/2006/relationships/notesSlide" Target="/ppt/notesSlides/notesSlide3.xml" Id="R760d406e67bb40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f0d9bd931432b" /><Relationship Type="http://schemas.openxmlformats.org/officeDocument/2006/relationships/image" Target="/ppt/media/image.png" Id="R194a09e8d9ad4f5e" /><Relationship Type="http://schemas.openxmlformats.org/officeDocument/2006/relationships/notesSlide" Target="/ppt/notesSlides/notesSlide4.xml" Id="R284a866ea50d4b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bc86a089144b7" /><Relationship Type="http://schemas.openxmlformats.org/officeDocument/2006/relationships/notesSlide" Target="/ppt/notesSlides/notesSlide5.xml" Id="Rc20b8fe49da0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2f666f8141e9" /><Relationship Type="http://schemas.openxmlformats.org/officeDocument/2006/relationships/notesSlide" Target="/ppt/notesSlides/notesSlide6.xml" Id="Rbd4ebce2099946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6505210874ae9" /><Relationship Type="http://schemas.openxmlformats.org/officeDocument/2006/relationships/notesSlide" Target="/ppt/notesSlides/notesSlide7.xml" Id="Rd97a8cd0449742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5a9f36a5c4407" /><Relationship Type="http://schemas.openxmlformats.org/officeDocument/2006/relationships/notesSlide" Target="/ppt/notesSlides/notesSlide8.xml" Id="R6518e4ec343644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e9907d53346ee" /><Relationship Type="http://schemas.openxmlformats.org/officeDocument/2006/relationships/notesSlide" Target="/ppt/notesSlides/notesSlide9.xml" Id="Reee8c7d4fd55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1">
            <a:extLst xmlns:a="http://schemas.openxmlformats.org/drawingml/2006/main">
              <a:ext uri="{FF2B5EF4-FFF2-40B4-BE49-F238E27FC236}">
                <a16:creationId xmlns:a16="http://schemas.microsoft.com/office/drawing/2014/main" id="{2AE914D3-F4B1-4267-8BD3-7EFF11CF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Mindfolio Time Machine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68F88FE3-CADF-40E8-99BD-7DB78BEF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09CEA-1746-48BB-8AA1-8DB9E1BE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466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brand-badge">
            <a:extLst xmlns:a="http://schemas.openxmlformats.org/drawingml/2006/main">
              <a:ext uri="{FF2B5EF4-FFF2-40B4-BE49-F238E27FC236}">
                <a16:creationId xmlns:a16="http://schemas.microsoft.com/office/drawing/2014/main" id="{11DE978E-93DD-4E05-9D08-11B84522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6F34A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121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4121F"/>
                </a:solidFill>
                <a:latin typeface="PingFang TC"/>
                <a:ea typeface="PingFang TC"/>
                <a:cs typeface="PingFang TC"/>
              </a:rPr>
              <a:t>M</a:t>
            </a:r>
          </a:p>
        </p:txBody>
      </p:sp>
      <p:sp>
        <p:nvSpPr>
          <p:cNvPr id="5" name="brand-label">
            <a:extLst xmlns:a="http://schemas.openxmlformats.org/drawingml/2006/main">
              <a:ext uri="{FF2B5EF4-FFF2-40B4-BE49-F238E27FC236}">
                <a16:creationId xmlns:a16="http://schemas.microsoft.com/office/drawing/2014/main" id="{D9ED084B-C3AB-45C4-B667-F0EA27E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MINDFOLIO · CMONEY × AWS 2026</a:t>
            </a:r>
          </a:p>
        </p:txBody>
      </p:sp>
      <p:sp>
        <p:nvSpPr>
          <p:cNvPr id="6" name="eyebrow-TA · 尚未在 APP 建立持股庫存的自主投資人">
            <a:extLst xmlns:a="http://schemas.openxmlformats.org/drawingml/2006/main">
              <a:ext uri="{FF2B5EF4-FFF2-40B4-BE49-F238E27FC236}">
                <a16:creationId xmlns:a16="http://schemas.microsoft.com/office/drawing/2014/main" id="{896A76B3-4E1D-446B-9ADD-50E627B4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TA · 尚未在 APP 建立持股庫存的自主投資人</a:t>
            </a:r>
          </a:p>
        </p:txBody>
      </p:sp>
      <p:sp>
        <p:nvSpPr>
          <p:cNvPr id="7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CF03B68F-D7DF-40BF-B98D-9F13A14C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2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52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想知道用戶手上抱著什麼？</a:t>
            </a:r>
          </a:p>
        </p:txBody>
      </p:sp>
      <p:sp>
        <p:nvSpPr>
          <p:cNvPr id="8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FC781A7-18AE-4F2C-8F46-8A2A11A1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60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先別問他。</a:t>
            </a:r>
          </a:p>
        </p:txBody>
      </p:sp>
      <p:sp>
        <p:nvSpPr>
          <p:cNvPr id="9" name="ta-summary">
            <a:extLst xmlns:a="http://schemas.openxmlformats.org/drawingml/2006/main">
              <a:ext uri="{FF2B5EF4-FFF2-40B4-BE49-F238E27FC236}">
                <a16:creationId xmlns:a16="http://schemas.microsoft.com/office/drawing/2014/main" id="{2A9661A5-DE35-4E56-AADE-CD3843C8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從想快速看懂自己的新手，到記得交易、卻不想整理股數、成本與對帳單的老手——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都需要先看見價值，才願意提供持股。</a:t>
            </a:r>
          </a:p>
        </p:txBody>
      </p:sp>
    </p:spTree>
    <p:extLst>
      <p:ext uri="{BB962C8B-B14F-4D97-AF65-F5344CB8AC3E}">
        <p14:creationId xmlns:p14="http://schemas.microsoft.com/office/powerpoint/2010/main" val="1886123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2">
            <a:extLst xmlns:a="http://schemas.openxmlformats.org/drawingml/2006/main">
              <a:ext uri="{FF2B5EF4-FFF2-40B4-BE49-F238E27FC236}">
                <a16:creationId xmlns:a16="http://schemas.microsoft.com/office/drawing/2014/main" id="{4A38DFE5-0CEC-4940-A835-DE5E67A0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五檔＋月份＋價格區間 · 核心結果前不用登入 · 不連券商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570848BD-83FB-4E6E-807C-8248CF7A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000B2-A794-4CDA-BE90-A3EF841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0933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eyebrow-為什麼沒人願意交出持股">
            <a:extLst xmlns:a="http://schemas.openxmlformats.org/drawingml/2006/main">
              <a:ext uri="{FF2B5EF4-FFF2-40B4-BE49-F238E27FC236}">
                <a16:creationId xmlns:a16="http://schemas.microsoft.com/office/drawing/2014/main" id="{C3CE832D-CE10-4B4B-A31C-0450DB4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為什麼沒人願意交出持股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D5C32-947B-44E7-84C3-9F6683A8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3675" b="1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不信任 · 怕麻煩 · 沒好處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53B6A-A60C-45BB-BFB6-6D367F60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A0B6"/>
            </a:solidFill>
            <a:prstDash val="solid"/>
          </a:ln>
        </p:spPr>
      </p:sp>
      <p:sp>
        <p:nvSpPr>
          <p:cNvPr id="7" name="solution-line">
            <a:extLst xmlns:a="http://schemas.openxmlformats.org/drawingml/2006/main">
              <a:ext uri="{FF2B5EF4-FFF2-40B4-BE49-F238E27FC236}">
                <a16:creationId xmlns:a16="http://schemas.microsoft.com/office/drawing/2014/main" id="{F1AAAB9B-ABC1-4324-917E-84D6FA7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所以我們 </a:t>
            </a:r>
            <a:r>
              <a:rPr sz="36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先給價值，再要資料。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16ECB795-E0F6-47D9-8262-85D2B7D6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23837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61EA0-F6A3-40BC-99C6-822CADA5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D9B92-2499-45D2-AF5A-4903DBF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玩 2025 時光機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FFB9D-F330-4FC8-A9F6-F7F6C36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956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5ACA7636-D3D7-41BC-B6A2-1076D07F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43250"/>
            <a:ext cx="223837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A23B5-D889-4776-B916-1F2601A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52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DE186-EEE7-447C-B329-18865DFD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43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拿人格＋重建報酬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18ACE-B9E7-478B-AD24-D82A2BF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956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18C66529-E21D-488D-9857-BC9608EF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23837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5C24F-BC98-45C7-B80E-0B47937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258A6-CAF0-471F-80ED-306168D1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43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這幾檔還持有嗎？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3C2C0-C7F4-4B16-8DBF-E9E818E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956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0" name="flow-4">
            <a:extLst xmlns:a="http://schemas.openxmlformats.org/drawingml/2006/main">
              <a:ext uri="{FF2B5EF4-FFF2-40B4-BE49-F238E27FC236}">
                <a16:creationId xmlns:a16="http://schemas.microsoft.com/office/drawing/2014/main" id="{C554553C-B75A-46B9-B0A0-BA7EEC5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23837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5D648-381B-4822-937C-887720C1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52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KEEP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56E09-D242-43C7-838D-6008494A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43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確認持股進 Radar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F4F32-958C-4D1D-AAD9-CF6E3957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1087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1EF6A-A3C7-4704-A9C2-48E20B28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33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低門檻不是零輸入：</a:t>
            </a:r>
            <a:r>
              <a:rPr sz="1500" b="0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 五檔股票＋大概月份＋價格區間；不要求股數、完整成本或對帳單。</a:t>
            </a:r>
          </a:p>
        </p:txBody>
      </p:sp>
    </p:spTree>
    <p:extLst>
      <p:ext uri="{BB962C8B-B14F-4D97-AF65-F5344CB8AC3E}">
        <p14:creationId xmlns:p14="http://schemas.microsoft.com/office/powerpoint/2010/main" val="1082361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3">
            <a:extLst xmlns:a="http://schemas.openxmlformats.org/drawingml/2006/main">
              <a:ext uri="{FF2B5EF4-FFF2-40B4-BE49-F238E27FC236}">
                <a16:creationId xmlns:a16="http://schemas.microsoft.com/office/drawing/2014/main" id="{528F4B07-CE0E-406C-A337-8B14BCF4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Builder → 重建 → 人格結果 → 認領 → Radar → AI Deep Dive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777D8CF-146A-474F-96FC-54100F7E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96D5A-963B-4F71-A0E1-448CA39D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6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eyebrow-LIVE DEMO · 現在就在線上">
            <a:extLst xmlns:a="http://schemas.openxmlformats.org/drawingml/2006/main">
              <a:ext uri="{FF2B5EF4-FFF2-40B4-BE49-F238E27FC236}">
                <a16:creationId xmlns:a16="http://schemas.microsoft.com/office/drawing/2014/main" id="{795E3BF2-A463-4C43-A8E1-6F9D6A7A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LIVE DEMO · 現在就在線上</a:t>
            </a:r>
          </a:p>
        </p:txBody>
      </p:sp>
      <p:sp>
        <p:nvSpPr>
          <p:cNvPr id="5" name="demo-title">
            <a:extLst xmlns:a="http://schemas.openxmlformats.org/drawingml/2006/main">
              <a:ext uri="{FF2B5EF4-FFF2-40B4-BE49-F238E27FC236}">
                <a16:creationId xmlns:a16="http://schemas.microsoft.com/office/drawing/2014/main" id="{86D87CA5-29EB-45DE-93F3-CBCF6B79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一趟三分鐘的</a:t>
            </a:r>
            <a:r>
              <a:rPr sz="43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投資時光機。</a:t>
            </a:r>
          </a:p>
        </p:txBody>
      </p:sp>
      <p:sp>
        <p:nvSpPr>
          <p:cNvPr id="6" name="demo-url">
            <a:extLst xmlns:a="http://schemas.openxmlformats.org/drawingml/2006/main">
              <a:ext uri="{FF2B5EF4-FFF2-40B4-BE49-F238E27FC236}">
                <a16:creationId xmlns:a16="http://schemas.microsoft.com/office/drawing/2014/main" id="{49B6F6D5-9359-4CB4-A999-414D7E54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34.229.72.35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EE59E-EB8C-4FC0-B389-564DC91E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857500" cy="609600"/>
          </a:xfrm>
          <a:prstGeom xmlns:a="http://schemas.openxmlformats.org/drawingml/2006/main" prst="roundRect">
            <a:avLst>
              <a:gd name="adj" fmla="val 2031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7CDB8-12BF-4773-AB8E-9AE9D78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評審邀請碼 </a:t>
            </a:r>
            <a:r>
              <a:rPr sz="1725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123456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77C6D-208B-432B-9480-6F59C86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這不是簡報構想——你用手機就能打開。</a:t>
            </a:r>
          </a:p>
        </p:txBody>
      </p:sp>
      <p:sp>
        <p:nvSpPr>
          <p:cNvPr id="10" name="aws-proof">
            <a:extLst xmlns:a="http://schemas.openxmlformats.org/drawingml/2006/main">
              <a:ext uri="{FF2B5EF4-FFF2-40B4-BE49-F238E27FC236}">
                <a16:creationId xmlns:a16="http://schemas.microsoft.com/office/drawing/2014/main" id="{2E7185C0-2706-49F0-8576-3F37AC2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428750"/>
            <a:ext cx="4048125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7C033-78AB-4A55-BDB4-C442F8A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790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RUNNING ON AWS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7CF3A-CD5F-4EB1-92BB-EB6D90D4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05050"/>
            <a:ext cx="323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不是構想，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已經上線。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50226-284E-446D-8245-3E52529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195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5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ECB14-FA94-4581-BA57-A9442BE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909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可開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86BF7-76CA-4590-ADC2-425CCEA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5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552F5-B39F-4C3A-AD4E-9B56684A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909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可算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1B486-F5E1-4F6B-BF81-4842CB47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6195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5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478B9-0E1C-4646-9F80-41BC8A19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7909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可保存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86C75-6DE4-404B-84ED-B8C5C23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24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Web、API、資料庫以 Docker Compose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部署在同一台 EC2。</a:t>
            </a:r>
          </a:p>
        </p:txBody>
      </p:sp>
    </p:spTree>
    <p:extLst>
      <p:ext uri="{BB962C8B-B14F-4D97-AF65-F5344CB8AC3E}">
        <p14:creationId xmlns:p14="http://schemas.microsoft.com/office/powerpoint/2010/main" val="1558302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4">
            <a:extLst xmlns:a="http://schemas.openxmlformats.org/drawingml/2006/main">
              <a:ext uri="{FF2B5EF4-FFF2-40B4-BE49-F238E27FC236}">
                <a16:creationId xmlns:a16="http://schemas.microsoft.com/office/drawing/2014/main" id="{2DD30833-B01D-4BD9-9708-D428844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金融結果不由 LLM 生成；輸出無法通過檢查，就切換安全備援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5968AD88-7699-45EE-AC8F-AF43BBF7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ED31E-B0D4-48BB-9CC8-785A283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1866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eyebrow-護城河① · 金融結果先驗證，再讓 AI 解釋">
            <a:extLst xmlns:a="http://schemas.openxmlformats.org/drawingml/2006/main">
              <a:ext uri="{FF2B5EF4-FFF2-40B4-BE49-F238E27FC236}">
                <a16:creationId xmlns:a16="http://schemas.microsoft.com/office/drawing/2014/main" id="{E52C26A1-6139-4A0A-BFAE-05275A53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護城河① · 金融結果先驗證，再讓 AI 解釋</a:t>
            </a:r>
          </a:p>
        </p:txBody>
      </p:sp>
      <p:sp>
        <p:nvSpPr>
          <p:cNvPr id="5" name="trust-title">
            <a:extLst xmlns:a="http://schemas.openxmlformats.org/drawingml/2006/main">
              <a:ext uri="{FF2B5EF4-FFF2-40B4-BE49-F238E27FC236}">
                <a16:creationId xmlns:a16="http://schemas.microsoft.com/office/drawing/2014/main" id="{6964E0EF-61D3-4A7E-A4D4-C3283A68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生成式 AI，</a:t>
            </a:r>
            <a:r>
              <a:rPr sz="36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不負責算金融結果。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BDF2C-34EA-4DC3-96C4-3E801F35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3337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7CBDE-7727-49F5-9F20-6E6E2D58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01 · 算結果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9F80A-445D-4C98-8C99-C2BEE0B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確定性引擎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75CA9-A8CF-4DDA-9AF7-C992BB3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報酬、人格與資料信心；同一輸入，必有同一輸出。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187FA-B1E8-4243-AC04-6929B437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3337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3F774-5BBC-4E1E-A7B0-1F2C394B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02 · 給情境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1324B-FBE4-453C-A756-2E365172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離線 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C1313-674D-4E06-92DC-AF9C3A2D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辨識歷史市場情境與異常；只描述，不預測未來。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3F9BA-10BE-4BBC-A73D-F905881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3337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F1EAB-B4F6-4139-8F7A-C5DB6E01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03 · 寫解讀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5355E-7232-4012-A366-A7A3C77E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Amazon Bedrock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9CE0E-3E43-4F9D-8982-7D022BF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007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每個解讀重點皆可追溯；不合格即切安全備援。</a:t>
            </a:r>
          </a:p>
        </p:txBody>
      </p:sp>
      <p:sp>
        <p:nvSpPr>
          <p:cNvPr id="18" name="deep-dive-frame">
            <a:extLst xmlns:a="http://schemas.openxmlformats.org/drawingml/2006/main">
              <a:ext uri="{FF2B5EF4-FFF2-40B4-BE49-F238E27FC236}">
                <a16:creationId xmlns:a16="http://schemas.microsoft.com/office/drawing/2014/main" id="{86B2C45E-538F-46DE-8F15-766902C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57400"/>
            <a:ext cx="7219950" cy="3790950"/>
          </a:xfrm>
          <a:prstGeom xmlns:a="http://schemas.openxmlformats.org/drawingml/2006/main" prst="roundRect">
            <a:avLst>
              <a:gd name="adj" fmla="val 4523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a09e8d9ad4f5e"/>
          <a:stretch xmlns:a="http://schemas.openxmlformats.org/drawingml/2006/main"/>
        </p:blipFill>
        <p:spPr>
          <a:xfrm xmlns:a="http://schemas.openxmlformats.org/drawingml/2006/main">
            <a:off x="4343400" y="2190325"/>
            <a:ext cx="6991350" cy="3525100"/>
          </a:xfrm>
          <a:prstGeom xmlns:a="http://schemas.openxmlformats.org/drawingml/2006/main" prst="roundRect">
            <a:avLst>
              <a:gd name="adj" fmla="val 3743"/>
            </a:avLst>
          </a:prstGeom>
        </p:spPr>
      </p:pic>
    </p:spTree>
    <p:extLst>
      <p:ext uri="{BB962C8B-B14F-4D97-AF65-F5344CB8AC3E}">
        <p14:creationId xmlns:p14="http://schemas.microsoft.com/office/powerpoint/2010/main" val="122006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5">
            <a:extLst xmlns:a="http://schemas.openxmlformats.org/drawingml/2006/main">
              <a:ext uri="{FF2B5EF4-FFF2-40B4-BE49-F238E27FC236}">
                <a16:creationId xmlns:a16="http://schemas.microsoft.com/office/drawing/2014/main" id="{9AF4610D-15FF-402D-B4C9-6BD19EF1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先定義成功，再用真實流量驗證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775FB750-6324-4AD2-930B-C5590CD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1955E-3B00-4D03-8D07-643DDB0B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7333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eyebrow-RETENTION · MEASUREMENT">
            <a:extLst xmlns:a="http://schemas.openxmlformats.org/drawingml/2006/main">
              <a:ext uri="{FF2B5EF4-FFF2-40B4-BE49-F238E27FC236}">
                <a16:creationId xmlns:a16="http://schemas.microsoft.com/office/drawing/2014/main" id="{3211965F-DFC3-448E-AB10-B8823C69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RETENTION · MEASUREMENT</a:t>
            </a:r>
          </a:p>
        </p:txBody>
      </p:sp>
      <p:sp>
        <p:nvSpPr>
          <p:cNvPr id="5" name="retention-title">
            <a:extLst xmlns:a="http://schemas.openxmlformats.org/drawingml/2006/main">
              <a:ext uri="{FF2B5EF4-FFF2-40B4-BE49-F238E27FC236}">
                <a16:creationId xmlns:a16="http://schemas.microsoft.com/office/drawing/2014/main" id="{1FF310BF-76FB-44E8-9C4D-BA01398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38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第一次拿到價值，</a:t>
            </a:r>
            <a:r>
              <a:rPr sz="3825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下一次才願意更新持股。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404D5-9350-47CA-900B-F467A367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197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6B4EE-98CE-4134-87CD-B4F55EA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第一次體驗 · 新手也能開始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7621D-4146-4FF6-97FF-914ACE0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3 分鐘小卡 → 人格＋重建報酬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9B5F4-896C-4AD9-9583-C011B7A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不要求精確交易日、股數或完整成本，先讓使用者看懂自己。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C5FE3-27CF-423A-A276-1DF3B60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53721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3E611-A2F6-4C41-BD94-A5D7E3A5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回訪情境 · 年度 RECAP 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054D6-2222-479E-82FF-101B0966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更新「仍持有」→ 換一份新報告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D528D-9BA4-4DA7-88AA-060D4742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有經驗的投資人用回顧整理持股，Portfolio Radar 延續解讀。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585CA-416B-4092-86DE-617D5FA0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8394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7C10E-A5BB-4F58-8C0B-EE8F3FD4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North Star｜Verified Holding Activation</a:t>
            </a:r>
            <a:r>
              <a:rPr sz="1425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 = 完成重建＋明確同意＋成功保存至少一檔確認持股。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26C27-9C3D-4996-A5BC-881E91E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上線後驗證：</a:t>
            </a:r>
            <a:r>
              <a:rPr sz="1425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重建完成率 → 持股確認率 → D7 回訪率；所有成效都以真實流量量測。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915E9-3E06-4929-B488-97DF268B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35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CMoney 2025 價量 · 籌碼 · 社群 → </a:t>
            </a:r>
            <a:r>
              <a:rPr sz="2025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3,584</a:t>
            </a:r>
            <a:r>
              <a:rPr sz="135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 筆預評分個股月份情境</a:t>
            </a:r>
          </a:p>
        </p:txBody>
      </p:sp>
    </p:spTree>
    <p:extLst>
      <p:ext uri="{BB962C8B-B14F-4D97-AF65-F5344CB8AC3E}">
        <p14:creationId xmlns:p14="http://schemas.microsoft.com/office/powerpoint/2010/main" val="728095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6">
            <a:extLst xmlns:a="http://schemas.openxmlformats.org/drawingml/2006/main">
              <a:ext uri="{FF2B5EF4-FFF2-40B4-BE49-F238E27FC236}">
                <a16:creationId xmlns:a16="http://schemas.microsoft.com/office/drawing/2014/main" id="{4F2ACBB6-76D4-438A-B276-D4CDD8EA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Mindfolio Time Machine · 謝謝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3749DB92-98D4-4BEB-8A6D-17D0799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28E32-ADFD-4921-B9B0-0DD7A448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2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brand-badge">
            <a:extLst xmlns:a="http://schemas.openxmlformats.org/drawingml/2006/main">
              <a:ext uri="{FF2B5EF4-FFF2-40B4-BE49-F238E27FC236}">
                <a16:creationId xmlns:a16="http://schemas.microsoft.com/office/drawing/2014/main" id="{31DD27A5-9142-4835-A1C5-CF6A2E35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6F34A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121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4121F"/>
                </a:solidFill>
                <a:latin typeface="PingFang TC"/>
                <a:ea typeface="PingFang TC"/>
                <a:cs typeface="PingFang TC"/>
              </a:rPr>
              <a:t>M</a:t>
            </a:r>
          </a:p>
        </p:txBody>
      </p:sp>
      <p:sp>
        <p:nvSpPr>
          <p:cNvPr id="5" name="brand-label">
            <a:extLst xmlns:a="http://schemas.openxmlformats.org/drawingml/2006/main">
              <a:ext uri="{FF2B5EF4-FFF2-40B4-BE49-F238E27FC236}">
                <a16:creationId xmlns:a16="http://schemas.microsoft.com/office/drawing/2014/main" id="{B6C0AAC5-F439-4FC7-B02A-05E51AC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MINDFOLIO</a:t>
            </a:r>
          </a:p>
        </p:txBody>
      </p:sp>
      <p:sp>
        <p:nvSpPr>
          <p:cNvPr id="6" name="eyebrow-TIME MACHINE">
            <a:extLst xmlns:a="http://schemas.openxmlformats.org/drawingml/2006/main">
              <a:ext uri="{FF2B5EF4-FFF2-40B4-BE49-F238E27FC236}">
                <a16:creationId xmlns:a16="http://schemas.microsoft.com/office/drawing/2014/main" id="{0167B1B8-B368-4376-AA11-060EAFCB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TIME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94641-2B9D-4598-A5EF-5ED103DA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48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三分鐘的時光機，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EBF9B-F2A8-4C9C-82C4-A4B332D8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換來第一筆本人確認的持股關係。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F38A1-EBE4-42B0-9A44-2BFEDA7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新手從一張小卡開始；有經驗的投資人用一次次 Recap 更新持股。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CMoney 得到的不是匿名點擊，而是本人明確確認、可以持續服務的持股關係。</a:t>
            </a:r>
          </a:p>
        </p:txBody>
      </p:sp>
    </p:spTree>
    <p:extLst>
      <p:ext uri="{BB962C8B-B14F-4D97-AF65-F5344CB8AC3E}">
        <p14:creationId xmlns:p14="http://schemas.microsoft.com/office/powerpoint/2010/main" val="1045002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7">
            <a:extLst xmlns:a="http://schemas.openxmlformats.org/drawingml/2006/main">
              <a:ext uri="{FF2B5EF4-FFF2-40B4-BE49-F238E27FC236}">
                <a16:creationId xmlns:a16="http://schemas.microsoft.com/office/drawing/2014/main" id="{2B634A45-CDC7-4B6F-87EF-6BDFAE47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Q&amp;A 附錄 · 已部署、可重現、可降級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A6EC210E-FBE6-4B8D-84AD-F5EB6F7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0D754-BB34-4B20-898E-E98393FC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48266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eyebrow-附錄 A · 技術可行性">
            <a:extLst xmlns:a="http://schemas.openxmlformats.org/drawingml/2006/main">
              <a:ext uri="{FF2B5EF4-FFF2-40B4-BE49-F238E27FC236}">
                <a16:creationId xmlns:a16="http://schemas.microsoft.com/office/drawing/2014/main" id="{B50DF625-B604-4771-A8FC-D7AFBC9B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附錄 A · 技術可行性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DAA28-309E-4854-BF37-BF95130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一台 EC2，跑完整產品閉環。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88401-34A3-49A8-B84D-0072F35A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83945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97B38-BF1F-417A-9F12-9A75A3C9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7335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DC12A-2BD2-4194-92D0-115CC60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75AB2-5923-4A04-9F2E-FCB85124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React＋nginx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E9861-9420-4559-B376-BAF3DBC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入口與 /api 代理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DD12F-3367-4A47-B67D-7A818893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146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01BCA-103C-4572-AD05-39827DD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17335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18E77-DC51-4556-86F6-3C20C27A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B3736-A7DF-4987-9328-0E811936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FastAPI · 14 端點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C1473-1279-4E7A-BB32-0BF7FD48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14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重建、認領、Radar、AI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7222E-353E-49EF-8E3D-87A8B13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146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86347-E403-4336-9A0B-DB1A4E6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7335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777F3-53D4-4657-9119-92DA15C5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E9F20-CE23-4321-8645-F3C5B16D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確定性引擎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C4476-D6E0-4E6C-8988-74D38FA2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驗價、公司行動、報酬、人格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C5034-3C31-44FB-8575-13F07BCD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146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87D8D-9081-473A-ACE8-CFA5A191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17335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27BDC-C13F-4323-9636-F5277C6F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C212E-378A-4509-9ED5-45232A6B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離線 ML＋Bedrock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61A13-6EB6-41C0-9E94-67621D4D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歷史情境＋證據型解讀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815AF-190C-4D1A-8019-E4BB17F1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146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EDB7B-1EA2-4243-869D-B2BCF6FA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17335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5B40B-E799-46C5-AD2B-43852FC9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1FC06B-90A3-4E4B-B39F-7BB71D0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742832-C92C-4BE6-AD8F-132EB317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報告、確認持股、快取、事件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ADD8D-3EC0-4B25-A792-CD581C7F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71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9A42B-1948-4058-8115-2BE68EF5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747296-86A8-441F-97C3-E42BBD9B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支 /api/v2 端點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CD32EF-C2AE-4569-A3AB-D69341C7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3371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885A05-B74E-400B-A1F7-478EB532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77＋6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E571D3-57D9-46DE-B1D1-95ECCF38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67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Python＋React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396C54-FD4A-4B48-8BF7-558CB977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3371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EFB6E8-90E0-48E9-8C75-173F701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FAIL-SOFT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1415ED-C910-42FE-96C0-059A310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67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Bedrock／artifact 失敗不阻斷重建</a:t>
            </a:r>
          </a:p>
        </p:txBody>
      </p:sp>
    </p:spTree>
    <p:extLst>
      <p:ext uri="{BB962C8B-B14F-4D97-AF65-F5344CB8AC3E}">
        <p14:creationId xmlns:p14="http://schemas.microsoft.com/office/powerpoint/2010/main" val="1104698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8">
            <a:extLst xmlns:a="http://schemas.openxmlformats.org/drawingml/2006/main">
              <a:ext uri="{FF2B5EF4-FFF2-40B4-BE49-F238E27FC236}">
                <a16:creationId xmlns:a16="http://schemas.microsoft.com/office/drawing/2014/main" id="{8A4BA230-BBCC-4AD5-9869-6FE5E3C9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Q&amp;A 附錄 · 官方 2025 資料 → 可驗證 Artifact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CFCA54FB-32DA-4779-9709-E4337A30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BC30F-F7B2-42E0-A0EE-04AC72F8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3733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eyebrow-附錄 B · 企業資料與 AI">
            <a:extLst xmlns:a="http://schemas.openxmlformats.org/drawingml/2006/main">
              <a:ext uri="{FF2B5EF4-FFF2-40B4-BE49-F238E27FC236}">
                <a16:creationId xmlns:a16="http://schemas.microsoft.com/office/drawing/2014/main" id="{6E1DBBE6-7A70-4385-8DFC-F220B7BD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附錄 B · 企業資料與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2C36F-3C86-4A36-AD12-C6F8091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同一份官方資料，既支撐重建，也提供市場情境。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0557B-5650-4361-8BB4-FF0F860D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1432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1A91E-FD22-40FB-B22E-71CC3501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價量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E2AEB-18A4-499B-A14D-FDDE6A5C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0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報酬、波動、最大回落、成交量、週轉率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5325F-9984-4544-B796-7C8DFFA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2025 每日資料聚合到個股月份。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58FDB-A92D-4648-A770-0B4612D0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1432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CC487-56C6-4E66-9C5B-99801492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籌碼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3F26B-2B2D-4BC6-92D5-8DAEACA0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法人淨流量與流量比例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64A33-9001-4807-8CA5-D13A88CD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2025 每日資料聚合到個股月份。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0DA4F-C7B2-4A70-A622-5E4C8C11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31432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69CC4-5886-4D7D-BF18-482A88CF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社群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88D0E-4E12-4E94-AC7A-D663161B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全站討論熱度與看漲比例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82AAE-0EB0-4AF7-B632-5C6D83B4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只代表全站彙總訊號，不代表個人情緒。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AFA05-305F-4337-AB42-A8C88E3D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5280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0AE0A-B0A9-4D45-9833-29BE668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7400"/>
            <a:ext cx="3048000" cy="32385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5672B-F3C9-42AE-B065-A1786E38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62200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MONTHLY FEATURE 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1ECAD-86FB-4329-8DCB-3FB1516B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8 個核心特徵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1BCE0-52B8-4E28-8978-73DCE39C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RobustScaler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1%／99% winsorization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版本化 JSON＋SHA-256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820F0-3595-40D6-9074-282F59ED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7C61A-81A9-4D44-9A5B-6C2E29A1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3028950" cy="331470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7D805-87F7-47A4-9DCF-C156DC2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PRE-SCORED ARTIFACT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38B17-ACF5-4951-BD26-B6AD0C7E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3,584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DA9E9-7888-45EE-8133-C6661ED5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筆個股月份情境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76ACE3-3A6A-419D-8E70-EE02D1BE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KMeans：6 群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IsolationForest：異常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Runtime 不安裝 sklearn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3E8B1-801F-4BE9-8A7A-9D90E5E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578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silhouette 0.1896</a:t>
            </a:r>
            <a:r>
              <a:rPr sz="1275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  ·  最大群 34.46%  ·  異常率 5.02%</a:t>
            </a:r>
          </a:p>
        </p:txBody>
      </p:sp>
    </p:spTree>
    <p:extLst>
      <p:ext uri="{BB962C8B-B14F-4D97-AF65-F5344CB8AC3E}">
        <p14:creationId xmlns:p14="http://schemas.microsoft.com/office/powerpoint/2010/main" val="960997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9">
            <a:extLst xmlns:a="http://schemas.openxmlformats.org/drawingml/2006/main">
              <a:ext uri="{FF2B5EF4-FFF2-40B4-BE49-F238E27FC236}">
                <a16:creationId xmlns:a16="http://schemas.microsoft.com/office/drawing/2014/main" id="{C28038BD-401E-430F-8B17-3F91AEFC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Q&amp;A 附錄 · 興趣 ≠ 交易 ≠ 持股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3686C23C-94D1-4919-BE49-6D16257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C9B8B-E125-4C05-B3C6-ADBFE548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4A"/>
          </a:solidFill>
          <a:ln xmlns:a="http://schemas.openxmlformats.org/drawingml/2006/main" w="0">
            <a:solidFill>
              <a:srgbClr val="B6F34A"/>
            </a:solidFill>
            <a:prstDash val="solid"/>
          </a:ln>
        </p:spPr>
      </p:sp>
      <p:sp>
        <p:nvSpPr>
          <p:cNvPr id="4" name="eyebrow-附錄 C · 資料治理與衡量">
            <a:extLst xmlns:a="http://schemas.openxmlformats.org/drawingml/2006/main">
              <a:ext uri="{FF2B5EF4-FFF2-40B4-BE49-F238E27FC236}">
                <a16:creationId xmlns:a16="http://schemas.microsoft.com/office/drawing/2014/main" id="{36349B20-7A6F-4BC6-9636-3C729D9B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附錄 C · 資料治理與衡量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766FC-E3C8-47F4-B554-F6695131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337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只有本人明確確認，才建立持股關係。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B1994-35D9-4EC3-9029-61E8BA1D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3718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C59DB-9E7F-4041-8CDA-660CC4DC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QUIZ STOCK INTEREST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5D91E-8787-41A5-8600-3BBF4E08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測驗選了這檔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9C4FE-6536-4735-B71E-D9B1769A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不代表買過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2FE62-DECB-424A-BFE3-B39C53D7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57400"/>
            <a:ext cx="33718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1BE1F-DC1A-4BEF-898D-164B089E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RECONSTRUCTED TRADE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C0356-6993-4666-A977-2B032EC8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行情可驗證的歷史事件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35205-1AD5-415E-82AE-A4180840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不代表目前仍持有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5F5C1-7D31-423A-9445-2355DBBF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33718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E1C2E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AF784-DA45-4BB6-8952-56370EE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CONFIRMED HOLDING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F30EF-699C-4B07-B399-810BA37D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認領＋獨立同意＋後端重驗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EA2D6-842A-4AE2-AFDE-36837936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才寫入 Portfolio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2D8B6-3798-4EC3-9B71-220A9E20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上線後驗證漏斗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D8F47-FF6C-4C81-8437-C42BAE1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695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665EB-3267-42F5-8D76-1583E2F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開始重建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D0704-B26B-48BE-AE3A-B68619FD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53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FF1AC-DA3C-423E-B361-5AB6881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9650"/>
            <a:ext cx="1695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4CCCB-AD67-4C53-96D8-1C690A7E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完成報告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8A1C3-9F46-4065-AF99-7B49AD41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F25E4-440C-476D-8A8C-82B189B2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19650"/>
            <a:ext cx="1695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C2AF7-9ECD-49CC-BFD6-9AA348EE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認領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E8366-8B9B-4F1A-A24A-83C83F6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98976A-5343-46B2-B6AC-683F5AA2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1695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B6F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B3158-0267-4E36-B702-D198800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6F3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B6F34A"/>
                </a:solidFill>
                <a:latin typeface="PingFang TC"/>
                <a:ea typeface="PingFang TC"/>
                <a:cs typeface="PingFang TC"/>
              </a:rPr>
              <a:t>確認持股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9CAFEE-1625-4862-A840-46C13C36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53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C5BC8-033F-4C86-BA2D-D3F5201E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19650"/>
            <a:ext cx="1695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9525">
            <a:solidFill>
              <a:srgbClr val="2435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D3265-1505-450E-8E49-6E3A00C1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F7FB"/>
                </a:solidFill>
                <a:latin typeface="PingFang TC"/>
                <a:ea typeface="PingFang TC"/>
                <a:cs typeface="PingFang TC"/>
              </a:rPr>
              <a:t>D7 回訪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DC7D28-1FE1-4CC3-B309-C51F167E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3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7F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FE0C7"/>
                </a:solidFill>
                <a:latin typeface="PingFang TC"/>
                <a:ea typeface="PingFang TC"/>
                <a:cs typeface="PingFang TC"/>
              </a:rPr>
              <a:t>目前狀態：</a:t>
            </a:r>
            <a:r>
              <a:rPr sz="1350">
                <a:solidFill>
                  <a:srgbClr val="8BA0B6"/>
                </a:solidFill>
                <a:latin typeface="PingFang TC"/>
                <a:ea typeface="PingFang TC"/>
                <a:cs typeface="PingFang TC"/>
              </a:rPr>
              <a:t>產品與量測事件已實作；尚無真實用戶成效，因此不把目標值包裝成結果。</a:t>
            </a:r>
          </a:p>
        </p:txBody>
      </p:sp>
    </p:spTree>
    <p:extLst>
      <p:ext uri="{BB962C8B-B14F-4D97-AF65-F5344CB8AC3E}">
        <p14:creationId xmlns:p14="http://schemas.microsoft.com/office/powerpoint/2010/main" val="183419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2026-07-15T13:58:52.9630000Z</dcterms:created>
  <dcterms:modified xsi:type="dcterms:W3CDTF">2026-07-15T13:58:52.9630000Z</dcterms:modified>
</coreProperties>
</file>